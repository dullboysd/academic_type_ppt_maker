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72" y="-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宋体"/>
                <a:ea typeface="宋体"/>
              </a:rPr>
              <a:t>2025 新能源战略规划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666666"/>
                </a:solidFill>
                <a:latin typeface="宋体"/>
                <a:ea typeface="宋体"/>
              </a:rPr>
              <a:t>领航绿色出行新纪元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第0页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jpg"/>
          <p:cNvPicPr>
            <a:picLocks noChangeAspect="1"/>
          </p:cNvPicPr>
          <p:nvPr/>
        </p:nvPicPr>
        <p:blipFill>
          <a:blip r:embed="rId2"/>
          <a:srcRect l="23370" r="23370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90000">
                <a:srgbClr val="FFFFFF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12080" y="91440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5400000">
            <a:off x="7406640" y="1371600"/>
            <a:ext cx="274320" cy="274320"/>
          </a:xfrm>
          <a:prstGeom prst="rtTriangle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  <a:effectLst>
            <a:outerShdw blurRad="50000" dist="30000" dir="2700000" algn="tl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0" y="91440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宋体"/>
                <a:ea typeface="宋体"/>
              </a:rPr>
              <a:t>第一部分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573CB"/>
                </a:solidFill>
                <a:latin typeface="宋体"/>
                <a:ea typeface="宋体"/>
              </a:rPr>
              <a:t>行业背景与机遇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第1页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宋体"/>
                <a:ea typeface="宋体"/>
              </a:rPr>
              <a:t>市场渗透率趋势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03327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360420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11780" y="402336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2023年：全球渗透率达到 15%，初步完成市场教育</a:t>
            </a:r>
          </a:p>
        </p:txBody>
      </p:sp>
      <p:pic>
        <p:nvPicPr>
          <p:cNvPr id="6" name="Picture 5" descr="slide_3_car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90" y="1645920"/>
            <a:ext cx="2583180" cy="1454234"/>
          </a:xfrm>
          <a:prstGeom prst="rect">
            <a:avLst/>
          </a:prstGeom>
          <a:effectLst>
            <a:outerShdw blurRad="320000" dist="80000" dir="5400000" algn="tl" rotWithShape="0">
              <a:srgbClr val="000000">
                <a:alpha val="80000"/>
              </a:srgbClr>
            </a:outerShdw>
          </a:effectLst>
        </p:spPr>
      </p:pic>
      <p:sp>
        <p:nvSpPr>
          <p:cNvPr id="7" name="Oval 6"/>
          <p:cNvSpPr/>
          <p:nvPr/>
        </p:nvSpPr>
        <p:spPr>
          <a:xfrm>
            <a:off x="5943600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0" y="192024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2024年：突破 25%，基础设施建设加速</a:t>
            </a:r>
          </a:p>
        </p:txBody>
      </p:sp>
      <p:pic>
        <p:nvPicPr>
          <p:cNvPr id="9" name="Picture 8" descr="slide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170" y="4114800"/>
            <a:ext cx="2583180" cy="1719728"/>
          </a:xfrm>
          <a:prstGeom prst="rect">
            <a:avLst/>
          </a:prstGeom>
          <a:effectLst>
            <a:outerShdw blurRad="320000" dist="80000" dir="5400000" algn="tl" rotWithShape="0">
              <a:srgbClr val="000000">
                <a:alpha val="80000"/>
              </a:srgbClr>
            </a:outerShdw>
          </a:effectLst>
        </p:spPr>
      </p:pic>
      <p:sp>
        <p:nvSpPr>
          <p:cNvPr id="10" name="Oval 9"/>
          <p:cNvSpPr/>
          <p:nvPr/>
        </p:nvSpPr>
        <p:spPr>
          <a:xfrm>
            <a:off x="8526780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8140" y="402336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2025年：目标突破 40%，进入爆发式增长期</a:t>
            </a:r>
          </a:p>
        </p:txBody>
      </p:sp>
      <p:pic>
        <p:nvPicPr>
          <p:cNvPr id="12" name="Picture 11" descr="slide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645920"/>
            <a:ext cx="2583180" cy="1719728"/>
          </a:xfrm>
          <a:prstGeom prst="rect">
            <a:avLst/>
          </a:prstGeom>
          <a:effectLst>
            <a:outerShdw blurRad="320000" dist="80000" dir="5400000" algn="tl" rotWithShape="0">
              <a:srgbClr val="000000">
                <a:alpha val="8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57200" y="64008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宋体"/>
                <a:ea typeface="宋体"/>
              </a:rPr>
              <a:t>市场渗透率持续加速提升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宋体"/>
                <a:ea typeface="宋体"/>
              </a:rPr>
              <a:t>第一部分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594360"/>
            <a:ext cx="12191695" cy="0"/>
          </a:xfrm>
          <a:prstGeom prst="line">
            <a:avLst/>
          </a:prstGeom>
          <a:ln w="508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第2页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宋体"/>
                <a:ea typeface="宋体"/>
              </a:rPr>
              <a:t>竞争格局分析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828800"/>
            <a:ext cx="0" cy="4389120"/>
          </a:xfrm>
          <a:prstGeom prst="line">
            <a:avLst/>
          </a:prstGeom>
          <a:ln w="2540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2103120"/>
            <a:ext cx="4267047" cy="384048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/>
              <a:t>传统燃油车：品牌认知度高，但面临严苛的排放法规，转型缓慢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0247" y="2103120"/>
            <a:ext cx="4267047" cy="384048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/>
              <a:t>新能源车企：智能化体验领先，直营模式效率高，但资金压力较大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宋体"/>
                <a:ea typeface="宋体"/>
              </a:rPr>
              <a:t>新能源车企需平衡创新与资金风险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宋体"/>
                <a:ea typeface="宋体"/>
              </a:rPr>
              <a:t>第一部分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594360"/>
            <a:ext cx="12191695" cy="0"/>
          </a:xfrm>
          <a:prstGeom prst="line">
            <a:avLst/>
          </a:prstGeom>
          <a:ln w="508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第3页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jpg"/>
          <p:cNvPicPr>
            <a:picLocks noChangeAspect="1"/>
          </p:cNvPicPr>
          <p:nvPr/>
        </p:nvPicPr>
        <p:blipFill>
          <a:blip r:embed="rId2"/>
          <a:srcRect l="23333" r="2333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90000">
                <a:srgbClr val="FFFFFF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12080" y="91440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5400000">
            <a:off x="7406640" y="1371600"/>
            <a:ext cx="274320" cy="274320"/>
          </a:xfrm>
          <a:prstGeom prst="rtTriangle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  <a:effectLst>
            <a:outerShdw blurRad="50000" dist="30000" dir="2700000" algn="tl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0" y="91440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宋体"/>
                <a:ea typeface="宋体"/>
              </a:rPr>
              <a:t>第二部分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573CB"/>
                </a:solidFill>
                <a:latin typeface="宋体"/>
                <a:ea typeface="宋体"/>
              </a:rPr>
              <a:t>核心增长引擎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第4页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宋体"/>
                <a:ea typeface="宋体"/>
              </a:rPr>
              <a:t>三大核心战役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3698138" cy="438912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宋体"/>
                <a:ea typeface="宋体"/>
              </a:rPr>
              <a:t>电池技术突破：研发固态电池，能量密度提升至 400Wh/kg</a:t>
            </a:r>
          </a:p>
        </p:txBody>
      </p:sp>
      <p:pic>
        <p:nvPicPr>
          <p:cNvPr id="4" name="Picture 3" descr="faded_0_slide_6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3332378" cy="222158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46778" y="1645920"/>
            <a:ext cx="3698138" cy="438912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宋体"/>
                <a:ea typeface="宋体"/>
              </a:rPr>
              <a:t>充电网络扩张：建设 5000 座超级快充站，覆盖全国 90% 高速路网</a:t>
            </a:r>
          </a:p>
        </p:txBody>
      </p:sp>
      <p:pic>
        <p:nvPicPr>
          <p:cNvPr id="6" name="Picture 5" descr="faded_1_slide_6_c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658" y="2011680"/>
            <a:ext cx="3332378" cy="22215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19236" y="1645920"/>
            <a:ext cx="3698138" cy="4389120"/>
          </a:xfrm>
          <a:prstGeom prst="roundRect">
            <a:avLst/>
          </a:prstGeom>
          <a:solidFill>
            <a:srgbClr val="8E248E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宋体"/>
                <a:ea typeface="宋体"/>
              </a:rPr>
              <a:t>智能驾驶落地：全系标配 L3 级辅助驾驶，高阶智驾订阅率超 30%</a:t>
            </a:r>
          </a:p>
        </p:txBody>
      </p:sp>
      <p:pic>
        <p:nvPicPr>
          <p:cNvPr id="8" name="Picture 7" descr="faded_2_slide_6_car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116" y="2011680"/>
            <a:ext cx="3332378" cy="22215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宋体"/>
                <a:ea typeface="宋体"/>
              </a:rPr>
              <a:t>技术、基建与智能三线并进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宋体"/>
                <a:ea typeface="宋体"/>
              </a:rPr>
              <a:t>第二部分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594360"/>
            <a:ext cx="12191695" cy="0"/>
          </a:xfrm>
          <a:prstGeom prst="line">
            <a:avLst/>
          </a:prstGeom>
          <a:ln w="508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第5页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宋体"/>
                <a:ea typeface="宋体"/>
              </a:rPr>
              <a:t>研发与交付路线图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03327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43784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95144" y="402336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第一季度：完成半固态电池冬季极寒测试</a:t>
            </a:r>
          </a:p>
        </p:txBody>
      </p:sp>
      <p:pic>
        <p:nvPicPr>
          <p:cNvPr id="6" name="Picture 5" descr="slide_7_car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354" y="1645920"/>
            <a:ext cx="2583180" cy="1722120"/>
          </a:xfrm>
          <a:prstGeom prst="rect">
            <a:avLst/>
          </a:prstGeom>
          <a:effectLst>
            <a:outerShdw blurRad="320000" dist="80000" dir="5400000" algn="tl" rotWithShape="0">
              <a:srgbClr val="000000">
                <a:alpha val="80000"/>
              </a:srgbClr>
            </a:outerShdw>
          </a:effectLst>
        </p:spPr>
      </p:pic>
      <p:sp>
        <p:nvSpPr>
          <p:cNvPr id="7" name="Oval 6"/>
          <p:cNvSpPr/>
          <p:nvPr/>
        </p:nvSpPr>
        <p:spPr>
          <a:xfrm>
            <a:off x="4910328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61688" y="192024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第二季度：发布全新 800V 高压平台架构</a:t>
            </a:r>
          </a:p>
        </p:txBody>
      </p:sp>
      <p:pic>
        <p:nvPicPr>
          <p:cNvPr id="9" name="Picture 8" descr="slide_7_card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98" y="4114800"/>
            <a:ext cx="2583180" cy="1817793"/>
          </a:xfrm>
          <a:prstGeom prst="rect">
            <a:avLst/>
          </a:prstGeom>
          <a:effectLst>
            <a:outerShdw blurRad="320000" dist="80000" dir="5400000" algn="tl" rotWithShape="0">
              <a:srgbClr val="000000">
                <a:alpha val="80000"/>
              </a:srgbClr>
            </a:outerShdw>
          </a:effectLst>
        </p:spPr>
      </p:pic>
      <p:sp>
        <p:nvSpPr>
          <p:cNvPr id="10" name="Oval 9"/>
          <p:cNvSpPr/>
          <p:nvPr/>
        </p:nvSpPr>
        <p:spPr>
          <a:xfrm>
            <a:off x="6976872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402336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第三季度：首款 L4 级自动驾驶车型量产交付</a:t>
            </a:r>
          </a:p>
        </p:txBody>
      </p:sp>
      <p:sp>
        <p:nvSpPr>
          <p:cNvPr id="12" name="Oval 11"/>
          <p:cNvSpPr/>
          <p:nvPr/>
        </p:nvSpPr>
        <p:spPr>
          <a:xfrm>
            <a:off x="9043416" y="356616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94776" y="192024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宋体"/>
                <a:ea typeface="宋体"/>
              </a:rPr>
              <a:t>第四季度：欧洲市场首批门店开业并开启交付</a:t>
            </a:r>
          </a:p>
        </p:txBody>
      </p:sp>
      <p:pic>
        <p:nvPicPr>
          <p:cNvPr id="14" name="Picture 13" descr="slide_7_card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986" y="4114800"/>
            <a:ext cx="2583180" cy="1722120"/>
          </a:xfrm>
          <a:prstGeom prst="rect">
            <a:avLst/>
          </a:prstGeom>
          <a:effectLst>
            <a:outerShdw blurRad="320000" dist="80000" dir="5400000" algn="tl" rotWithShape="0">
              <a:srgbClr val="000000">
                <a:alpha val="8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457200" y="64008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宋体"/>
                <a:ea typeface="宋体"/>
              </a:rPr>
              <a:t>季度目标明确，稳步推进量产交付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宋体"/>
                <a:ea typeface="宋体"/>
              </a:rPr>
              <a:t>第二部分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594360"/>
            <a:ext cx="12191695" cy="0"/>
          </a:xfrm>
          <a:prstGeom prst="line">
            <a:avLst/>
          </a:prstGeom>
          <a:ln w="508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第6页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宋体"/>
                <a:ea typeface="宋体"/>
              </a:rPr>
              <a:t>组织与风控保障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• 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人才引进：全球招募 </a:t>
            </a:r>
            <a:r>
              <a:rPr sz="2000" b="1">
                <a:solidFill>
                  <a:srgbClr val="3498DB"/>
                </a:solidFill>
                <a:latin typeface="宋体"/>
                <a:ea typeface="宋体"/>
              </a:rPr>
              <a:t>500 名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顶尖 AI 算法工程师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宋体"/>
                <a:ea typeface="宋体"/>
              </a:rPr>
              <a:t>供应链安全：与上游锂矿企业签订</a:t>
            </a:r>
            <a:r>
              <a:rPr sz="2000" b="0" dirty="0">
                <a:solidFill>
                  <a:srgbClr val="333333"/>
                </a:solidFill>
                <a:latin typeface="宋体"/>
                <a:ea typeface="宋体"/>
              </a:rPr>
              <a:t> </a:t>
            </a:r>
            <a:r>
              <a:rPr sz="2000" b="1" dirty="0">
                <a:solidFill>
                  <a:srgbClr val="2ECC71"/>
                </a:solidFill>
                <a:latin typeface="宋体"/>
                <a:ea typeface="宋体"/>
              </a:rPr>
              <a:t>3 </a:t>
            </a:r>
            <a:r>
              <a:rPr sz="2000" b="1" dirty="0" err="1">
                <a:solidFill>
                  <a:srgbClr val="2ECC71"/>
                </a:solidFill>
                <a:latin typeface="宋体"/>
                <a:ea typeface="宋体"/>
              </a:rPr>
              <a:t>年</a:t>
            </a:r>
            <a:r>
              <a:rPr sz="2000" b="0" dirty="0" err="1">
                <a:solidFill>
                  <a:srgbClr val="333333"/>
                </a:solidFill>
                <a:latin typeface="宋体"/>
                <a:ea typeface="宋体"/>
              </a:rPr>
              <a:t>长期保供协议</a:t>
            </a:r>
            <a:endParaRPr sz="2000" b="0" dirty="0">
              <a:solidFill>
                <a:srgbClr val="333333"/>
              </a:solidFill>
              <a:latin typeface="宋体"/>
              <a:ea typeface="宋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• 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资金储备：完成 C 轮 </a:t>
            </a:r>
            <a:r>
              <a:rPr sz="2000" b="1">
                <a:solidFill>
                  <a:srgbClr val="E74C3C"/>
                </a:solidFill>
                <a:latin typeface="宋体"/>
                <a:ea typeface="宋体"/>
              </a:rPr>
              <a:t>50 亿元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融资，确保现金流健康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• 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数据合规：建立跨国数据合规中心，满足 </a:t>
            </a:r>
            <a:r>
              <a:rPr sz="2000" b="0">
                <a:solidFill>
                  <a:srgbClr val="9B59B6"/>
                </a:solidFill>
                <a:latin typeface="宋体"/>
                <a:ea typeface="宋体"/>
              </a:rPr>
              <a:t>GDPR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 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• 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售后服务：将客户满意度 NPS 提升至 </a:t>
            </a:r>
            <a:r>
              <a:rPr sz="2000" b="1">
                <a:solidFill>
                  <a:srgbClr val="E67E22"/>
                </a:solidFill>
                <a:latin typeface="宋体"/>
                <a:ea typeface="宋体"/>
              </a:rPr>
              <a:t>75 分</a:t>
            </a:r>
            <a:r>
              <a:rPr sz="2000" b="0">
                <a:solidFill>
                  <a:srgbClr val="333333"/>
                </a:solidFill>
                <a:latin typeface="宋体"/>
                <a:ea typeface="宋体"/>
              </a:rPr>
              <a:t>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宋体"/>
                <a:ea typeface="宋体"/>
              </a:rPr>
              <a:t>人才、资金与合规全面保障战略落地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宋体"/>
                <a:ea typeface="宋体"/>
              </a:rPr>
              <a:t>第二部分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594360"/>
            <a:ext cx="12191695" cy="0"/>
          </a:xfrm>
          <a:prstGeom prst="line">
            <a:avLst/>
          </a:prstGeom>
          <a:ln w="508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第7页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9.jpg"/>
          <p:cNvPicPr>
            <a:picLocks noChangeAspect="1"/>
          </p:cNvPicPr>
          <p:nvPr/>
        </p:nvPicPr>
        <p:blipFill>
          <a:blip r:embed="rId2"/>
          <a:srcRect l="23333" r="2333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90000">
                <a:srgbClr val="FFFFFF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12080" y="91440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5400000">
            <a:off x="7406640" y="1371600"/>
            <a:ext cx="274320" cy="274320"/>
          </a:xfrm>
          <a:prstGeom prst="rtTriangle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  <a:effectLst>
            <a:outerShdw blurRad="50000" dist="30000" dir="2700000" algn="tl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0" y="91440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宋体"/>
                <a:ea typeface="宋体"/>
              </a:rPr>
              <a:t>第三部分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573CB"/>
                </a:solidFill>
                <a:latin typeface="宋体"/>
                <a:ea typeface="宋体"/>
              </a:rPr>
              <a:t>愿景与展望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第8页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4A90D9"/>
                </a:solidFill>
                <a:latin typeface="宋体"/>
                <a:ea typeface="宋体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宋体"/>
                <a:ea typeface="宋体"/>
              </a:rPr>
              <a:t>让每一度电，都驱动绿色未来。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303520"/>
            <a:ext cx="210312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宋体"/>
                <a:ea typeface="宋体"/>
              </a:rPr>
              <a:t>第三部分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594360"/>
            <a:ext cx="12191695" cy="0"/>
          </a:xfrm>
          <a:prstGeom prst="line">
            <a:avLst/>
          </a:prstGeom>
          <a:ln w="508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612880" y="6583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宋体"/>
                <a:ea typeface="宋体"/>
              </a:rPr>
              <a:t>第9页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宽屏</PresentationFormat>
  <Paragraphs>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宋体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547513649@qq.com</cp:lastModifiedBy>
  <cp:revision>1</cp:revision>
  <dcterms:created xsi:type="dcterms:W3CDTF">2013-01-27T09:14:16Z</dcterms:created>
  <dcterms:modified xsi:type="dcterms:W3CDTF">2026-10-21T03:38:44Z</dcterms:modified>
  <cp:category/>
</cp:coreProperties>
</file>